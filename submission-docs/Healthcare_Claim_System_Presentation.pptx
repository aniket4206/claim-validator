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6400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Healthcare Claim Validation</a:t>
            </a:r>
            <a:br/>
            <a:r>
              <a:t>&amp; Analytics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9A7"/>
                </a:solidFill>
                <a:latin typeface="Calibri"/>
              </a:defRPr>
            </a:pPr>
            <a:r>
              <a:t>AI-Powered CMS-1500 Claim Processing with HIPAA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2AB"/>
                </a:solidFill>
                <a:latin typeface="Calibri"/>
              </a:defRPr>
            </a:pPr>
            <a:r>
              <a:t>Project Evaluation Submission</a:t>
            </a:r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E8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40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E8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50800"/>
          </a:xfrm>
          <a:prstGeom prst="rect">
            <a:avLst/>
          </a:prstGeom>
          <a:solidFill>
            <a:srgbClr val="E8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15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5B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1264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5B"/>
                </a:solidFill>
                <a:latin typeface="Calibri"/>
              </a:defRPr>
            </a:pPr>
            <a:r>
              <a:t>$262 Billion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15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1"/>
                </a:solidFill>
                <a:latin typeface="Calibri"/>
              </a:defRPr>
            </a:pPr>
            <a:r>
              <a:t>lost annually to claim denials in US healthcare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3840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E8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840480" cy="50800"/>
          </a:xfrm>
          <a:prstGeom prst="rect">
            <a:avLst/>
          </a:prstGeom>
          <a:solidFill>
            <a:srgbClr val="E8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92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5B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2042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5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92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1"/>
                </a:solidFill>
                <a:latin typeface="Calibri"/>
              </a:defRPr>
            </a:pPr>
            <a:r>
              <a:t>of claims are denied on first submission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3840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E8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840480" cy="50800"/>
          </a:xfrm>
          <a:prstGeom prst="rect">
            <a:avLst/>
          </a:prstGeom>
          <a:solidFill>
            <a:srgbClr val="E8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70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5B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2819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5B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7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1"/>
                </a:solidFill>
                <a:latin typeface="Calibri"/>
              </a:defRPr>
            </a:pPr>
            <a:r>
              <a:t>of denied claims are never resubmitted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3840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E8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3840480" cy="50800"/>
          </a:xfrm>
          <a:prstGeom prst="rect">
            <a:avLst/>
          </a:prstGeom>
          <a:solidFill>
            <a:srgbClr val="E8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47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5B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3596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5B"/>
                </a:solidFill>
                <a:latin typeface="Calibri"/>
              </a:defRPr>
            </a:pPr>
            <a:r>
              <a:t>$25–$118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64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1"/>
                </a:solidFill>
                <a:latin typeface="Calibri"/>
              </a:defRPr>
            </a:pPr>
            <a:r>
              <a:t>average cost to rework a single denied claim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188720"/>
            <a:ext cx="4114800" cy="33832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1188720"/>
            <a:ext cx="411480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315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600200"/>
            <a:ext cx="38404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Manual claim review is slow and error-prone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Coding errors (ICD-10 / CPT) are the #1 denial reason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HIPAA compliance makes AI integration complex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No unified validation + submission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Rejection patterns repeat but aren't learned from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Prior authorization requirements often missed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31920" cy="18288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15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claim-validator (Python Library)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Reusable, pip-installable validation engine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8 rule-based + 3 AI-powered validators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Multi-LLM support (Claude, GPT-4, Ollama)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HIPAA Safe Harbor de-identification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Zero-config defaults with full customizability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18288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411480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15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healthcare-claim-analyzer (Django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00200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Production-ready REST API service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ClaimMD clearinghouse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Async processing (Celery + Redis)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Rejection analytics &amp; pattern learning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B0B8D1"/>
                </a:solidFill>
                <a:latin typeface="Calibri"/>
              </a:rPr>
              <a:t>  MCP server for Claude Code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993392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993392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76039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DF"/>
                </a:solidFill>
                <a:latin typeface="Calibri"/>
              </a:defRPr>
            </a:pPr>
            <a:r>
              <a:t>Dual-Phase</a:t>
            </a:r>
            <a:br/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Rule-based + AI
for maximum
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749039"/>
            <a:ext cx="1993392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749039"/>
            <a:ext cx="1993392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3876039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HIPAA</a:t>
            </a:r>
            <a:br/>
            <a:r>
              <a:t>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160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PHI encryption,
de-identification,
audit logging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749039"/>
            <a:ext cx="1993392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749039"/>
            <a:ext cx="1993392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876039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Calibri"/>
              </a:defRPr>
            </a:pPr>
            <a:r>
              <a:t>Multi-LLM</a:t>
            </a:r>
            <a:br/>
            <a: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160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Anthropic, OpenAI,
Ollama, vLLM,
LocalAI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749039"/>
            <a:ext cx="1993392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749039"/>
            <a:ext cx="1993392" cy="50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876039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DE5"/>
                </a:solidFill>
                <a:latin typeface="Calibri"/>
              </a:defRPr>
            </a:pPr>
            <a:r>
              <a:t>End-to-End</a:t>
            </a:r>
            <a:br/>
            <a:r>
              <a:t>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160519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Validate → Submit
→ Track → Analyze
→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412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DF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REST API Clients  |  MCP Server (Claude Code)  |  Django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412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Django REST Framework  →  Claims CRUD  |  Validation  |  Submission  |  Eligibility  | 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841248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ValidationService  |  SubmissionService  |  EligibilityService  |  AnalyticsService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292608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DF"/>
                </a:solidFill>
                <a:latin typeface="Calibri"/>
              </a:defRPr>
            </a:pPr>
            <a:r>
              <a:t>VALIDATION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Phase 1: 8 Rule Validators</a:t>
            </a:r>
            <a:br/>
            <a:r>
              <a:t>  Completeness, NPI, Coding,</a:t>
            </a:r>
            <a:br/>
            <a:r>
              <a:t>  Demographics, Monetary...</a:t>
            </a:r>
            <a:br/>
            <a:br/>
            <a:r>
              <a:t>Phase 2: 3 AI Validators</a:t>
            </a:r>
            <a:br/>
            <a:r>
              <a:t>  Code, Coverage, Prior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3474720"/>
            <a:ext cx="256032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ClaimMD Clearinghouse</a:t>
            </a:r>
            <a:br/>
            <a:r>
              <a:t>  Upload, Poll, Eligibility</a:t>
            </a:r>
            <a:br/>
            <a:br/>
            <a:r>
              <a:t>LLM Providers</a:t>
            </a:r>
            <a:br/>
            <a:r>
              <a:t>  Anthropic, OpenAI, Ollama</a:t>
            </a:r>
            <a:br/>
            <a:br/>
            <a:r>
              <a:t>Rate Limiter (100 req/min)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474720"/>
            <a:ext cx="256032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Calibri"/>
              </a:defRPr>
            </a:pPr>
            <a:r>
              <a:t>CELERY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validate_claim_task</a:t>
            </a:r>
            <a:br/>
            <a:r>
              <a:t>submit_claims_task</a:t>
            </a:r>
            <a:br/>
            <a:r>
              <a:t>check_eligibility_task</a:t>
            </a:r>
            <a:br/>
            <a:r>
              <a:t>poll_all_batches (5 min)</a:t>
            </a:r>
            <a:br/>
            <a:r>
              <a:t>analyze_patterns (daily)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10312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0312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828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Django 5.2 — Web framework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DRF 3.16 — REST API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Celery 5.6 — Task queue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Redis — Message broker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097280"/>
            <a:ext cx="210312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210312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224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Data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08760"/>
            <a:ext cx="1828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PostgreSQL — Production database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Pydantic 2.x — Data validation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Fernet — PHI encryption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Audit Log — HIPAA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097280"/>
            <a:ext cx="210312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097280"/>
            <a:ext cx="210312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224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508760"/>
            <a:ext cx="1828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Anthropic SDK — Claude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OpenAI SDK — GPT-4 support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httpx — OpenAI-compatible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MCP 1.26 — Claude Code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097280"/>
            <a:ext cx="210312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097280"/>
            <a:ext cx="2103120" cy="50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224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DE5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508760"/>
            <a:ext cx="1828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pytest 9.0 — Test framework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mypy (strict) — Type checking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ruff — Linting/formatting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factory-boy — Test factories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2AB"/>
                </a:solidFill>
                <a:latin typeface="Calibri"/>
              </a:defRPr>
            </a:pPr>
            <a:r>
              <a:t>Python 3.11+  |  ~1,050 lines (library) + ~3,000 lines (service)  |  50+ test files  |  Strict type checking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Two-Phase Validation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06240" cy="3657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0624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PHASE 1: Rule-Based (Deterministic)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931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Completeness</a:t>
            </a:r>
            <a:r>
              <a:rPr sz="1100">
                <a:solidFill>
                  <a:srgbClr val="B0B8D1"/>
                </a:solidFill>
                <a:latin typeface="Calibri"/>
              </a:rPr>
              <a:t> — Required fields, diagnosis, lines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NPI Validation</a:t>
            </a:r>
            <a:r>
              <a:rPr sz="1100">
                <a:solidFill>
                  <a:srgbClr val="B0B8D1"/>
                </a:solidFill>
                <a:latin typeface="Calibri"/>
              </a:rPr>
              <a:t> — Luhn check-digit algorithm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Subscriber ID</a:t>
            </a:r>
            <a:r>
              <a:rPr sz="1100">
                <a:solidFill>
                  <a:srgbClr val="B0B8D1"/>
                </a:solidFill>
                <a:latin typeface="Calibri"/>
              </a:rPr>
              <a:t> — Format &amp; placeholder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Demographics</a:t>
            </a:r>
            <a:r>
              <a:rPr sz="1100">
                <a:solidFill>
                  <a:srgbClr val="B0B8D1"/>
                </a:solidFill>
                <a:latin typeface="Calibri"/>
              </a:rPr>
              <a:t> — DOB, gender, age consistency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Coding</a:t>
            </a:r>
            <a:r>
              <a:rPr sz="1100">
                <a:solidFill>
                  <a:srgbClr val="B0B8D1"/>
                </a:solidFill>
                <a:latin typeface="Calibri"/>
              </a:rPr>
              <a:t> — ICD-10, CPT/HCPCS format + pointers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Monetary</a:t>
            </a:r>
            <a:r>
              <a:rPr sz="1100">
                <a:solidFill>
                  <a:srgbClr val="B0B8D1"/>
                </a:solidFill>
                <a:latin typeface="Calibri"/>
              </a:rPr>
              <a:t> — Charges, totals, balance checks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Duplicate</a:t>
            </a:r>
            <a:r>
              <a:rPr sz="1100">
                <a:solidFill>
                  <a:srgbClr val="B0B8D1"/>
                </a:solidFill>
                <a:latin typeface="Calibri"/>
              </a:rPr>
              <a:t> — Cross-claim duplicate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Timely Filing</a:t>
            </a:r>
            <a:r>
              <a:rPr sz="1100">
                <a:solidFill>
                  <a:srgbClr val="B0B8D1"/>
                </a:solidFill>
                <a:latin typeface="Calibri"/>
              </a:rPr>
              <a:t> — Payer-specific deadline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114800" cy="10972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143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HIPAA DE-IDENTIFICATION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Safe Harbor: Strips all 18 HIPAA identifiers</a:t>
            </a:r>
            <a:br/>
            <a:r>
              <a:t>Retains: Codes, charges, age, gender, state</a:t>
            </a:r>
            <a:br/>
            <a:r>
              <a:t>Removes: Names, DOB, SSN, member ID,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377440"/>
            <a:ext cx="4114800" cy="2377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377440"/>
            <a:ext cx="411480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0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PHASE 2: AI-Powered (LLM Analysis)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88920"/>
            <a:ext cx="38404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CodeValidationAI</a:t>
            </a:r>
            <a:r>
              <a:rPr sz="1100">
                <a:solidFill>
                  <a:srgbClr val="B0B8D1"/>
                </a:solidFill>
                <a:latin typeface="Calibri"/>
              </a:rPr>
              <a:t> — Diagnosis-procedure clinical plausibility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CoverageCheckAI</a:t>
            </a:r>
            <a:r>
              <a:rPr sz="1100">
                <a:solidFill>
                  <a:srgbClr val="B0B8D1"/>
                </a:solidFill>
                <a:latin typeface="Calibri"/>
              </a:rPr>
              <a:t> — Payer coverage likelihood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PriorAuthAI</a:t>
            </a:r>
            <a:r>
              <a:rPr sz="1100">
                <a:solidFill>
                  <a:srgbClr val="B0B8D1"/>
                </a:solidFill>
                <a:latin typeface="Calibri"/>
              </a:rPr>
              <a:t> — Prior authorization requirement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Confidence scoring (&gt;=70% threshold)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Errors downgraded to warnings if &lt;90%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Skippable if Phase 1 has errors (configurable)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Rule-Based Validators (8)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2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DF"/>
                </a:solidFill>
                <a:latin typeface="Calibri"/>
              </a:defRPr>
            </a:pPr>
            <a:r>
              <a:t>Completeness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Verifies all required CMS-1500 fields present</a:t>
            </a:r>
            <a:br/>
            <a:r>
              <a:t>Min 1 diagnosis, min 1 service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05156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12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NPI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10-digit format + Luhn check-digit validation</a:t>
            </a:r>
            <a:br/>
            <a:r>
              <a:t>Billing, rendering, and line-level NPIs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05156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12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Calibri"/>
              </a:defRPr>
            </a:pPr>
            <a:r>
              <a:t>Subscriber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Format validation, min length 3</a:t>
            </a:r>
            <a:br/>
            <a:r>
              <a:t>Placeholder detection (none/n-a/test)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864" y="105156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112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DE5"/>
                </a:solidFill>
                <a:latin typeface="Calibri"/>
              </a:defRPr>
            </a:pPr>
            <a:r>
              <a:t>Demographics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DOB in past, age &lt;=130, gender (M/F/U)</a:t>
            </a:r>
            <a:br/>
            <a:r>
              <a:t>Patient fields required if 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37744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53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DF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ICD-10-CM + CPT/HCPCS format validation</a:t>
            </a:r>
            <a:br/>
            <a:r>
              <a:t>Diagnosis pointer integrity &amp; bundled codes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7168" y="237744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2453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Monetary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Charges &gt; 0, unit count &gt; 0</a:t>
            </a:r>
            <a:br/>
            <a:r>
              <a:t>Line total = claim total, patient paid &lt;=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0016" y="237744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2453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Calibri"/>
              </a:defRPr>
            </a:pPr>
            <a: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Cross-claim detection: same subscriber +</a:t>
            </a:r>
            <a:br/>
            <a:r>
              <a:t>service date + payer (WARNING level)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2864" y="2377440"/>
            <a:ext cx="2103120" cy="1234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2453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DE5"/>
                </a:solidFill>
                <a:latin typeface="Calibri"/>
              </a:defRPr>
            </a:pPr>
            <a:r>
              <a:t>Timely Filing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743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Payer-specific deadline enforcement</a:t>
            </a:r>
            <a:br/>
            <a:r>
              <a:t>30-day warning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AI-Powered Validators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8346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Code Validation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Checks clinical plausibility of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diagnosis-procedure combinations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Detects: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Gender-specific procedure mismatches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Age-inappropriate procedures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Implausible code combinations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8346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83464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224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Coverage Check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Evaluates medical necessity and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payer coverage concerns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Detects: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Documentation-required procedures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Non-covered diagnosis codes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High-cost service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28346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283464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24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Prior Auth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Identifies services requiring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prior authorization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Detects: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High-cost imaging (MRI, CT)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Surgical procedures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  Specialty medications / DME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40480"/>
            <a:ext cx="8686800" cy="82296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Multi-Provider LLM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D1"/>
                </a:solidFill>
                <a:latin typeface="Calibri"/>
              </a:defRPr>
            </a:pPr>
            <a:r>
              <a:t>Anthropic Claude  |  OpenAI GPT-4  |  Ollama (local)  |  vLLM  |  LocalAI  |  Any OpenAI-compatible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HIPAA Compliance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148840" cy="2377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14884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DF"/>
                </a:solidFill>
                <a:latin typeface="Calibri"/>
              </a:defRPr>
            </a:pPr>
            <a:r>
              <a:t>Layer 1: Encryption at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874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Fernet encryption for all PHI fields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Subscriber name, ID, address encrypted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Patient name, DOB encrypted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django-encrypted-model-fields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097280"/>
            <a:ext cx="2148840" cy="2377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097280"/>
            <a:ext cx="214884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Layer 2: De-identification Before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08760"/>
            <a:ext cx="1874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HIPAA Safe Harbor method (18 identifiers)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Names, DOB, SSN, member ID removed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Only codes, charges, age, gender retained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Applied before every LLM API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97280"/>
            <a:ext cx="2148840" cy="2377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214884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Layer 3: Immutable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08760"/>
            <a:ext cx="1874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Every PHI access logged with timestamp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User, IP address, resource tracked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AuditLog.save() prevents modification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Actions: CREATE, READ, UPDATE, DELETE...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097280"/>
            <a:ext cx="2148840" cy="23774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097280"/>
            <a:ext cx="2148840" cy="50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DE5"/>
                </a:solidFill>
                <a:latin typeface="Calibri"/>
              </a:defRPr>
            </a:pPr>
            <a:r>
              <a:t>Layer 4: Exception Scrubbing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508760"/>
            <a:ext cx="1874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PHIFilterMiddleware active in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SSN/DOB patterns removed from errors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No PHI leaks in exception messages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Protects against accidental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749039"/>
            <a:ext cx="8686800" cy="6400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D1"/>
                </a:solidFill>
                <a:latin typeface="Calibri"/>
              </a:defRPr>
            </a:pPr>
            <a:r>
              <a:t>Zero PHI reaches external LLM providers. All patient data is de-identified using HIPAA</a:t>
            </a:r>
            <a:br/>
            <a:r>
              <a:t>Safe Harbor method before any AI analysis. Complete audit trail for compliance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1488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14884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Claims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874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   /api/v1/claims/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 /api/v1/claims/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   /api/v1/claims/{id}/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PUT    /api/v1/claims/{id}/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DELETE /api/v1/claims/{id}/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097280"/>
            <a:ext cx="21488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097280"/>
            <a:ext cx="214884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08760"/>
            <a:ext cx="1874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/claims/{id}/validate/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/claims/batch-validate/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  /claims/{id}/validations/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Sync &amp; async modes 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97280"/>
            <a:ext cx="21488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214884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Submission &amp; 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08760"/>
            <a:ext cx="1874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/claims/{id}/submit/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/claims/batch-submit/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POST /claims/{id}/eligibility/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ClaimMD clearinghouse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097280"/>
            <a:ext cx="2148840" cy="25603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097280"/>
            <a:ext cx="2148840" cy="50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22428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DE5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508760"/>
            <a:ext cx="1874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/analytics/rejection-summary/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/analytics/rejection-trends/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/analytics/validator-effectiveness/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GET /analytics/top-rejections/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2AB"/>
                </a:solidFill>
                <a:latin typeface="Calibri"/>
              </a:defRPr>
            </a:pPr>
            <a:r>
              <a:t>Django REST Framework  |  Pagination (50/page)  |  Filtering (status, payer, NPI, dates)  |  Nested serializers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ClaimMD Integration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97680" cy="20116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9768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ClaimMD Clearinghouse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4023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Batch Upload</a:t>
            </a:r>
            <a:r>
              <a:rPr sz="1100">
                <a:solidFill>
                  <a:srgbClr val="B0B8D1"/>
                </a:solidFill>
                <a:latin typeface="Calibri"/>
              </a:rPr>
              <a:t> — Submit validated claims to clearinghouse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Status Polling</a:t>
            </a:r>
            <a:r>
              <a:rPr sz="1100">
                <a:solidFill>
                  <a:srgbClr val="B0B8D1"/>
                </a:solidFill>
                <a:latin typeface="Calibri"/>
              </a:rPr>
              <a:t> — Auto-poll every 5 min via Celery beat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Eligibility</a:t>
            </a:r>
            <a:r>
              <a:rPr sz="1100">
                <a:solidFill>
                  <a:srgbClr val="B0B8D1"/>
                </a:solidFill>
                <a:latin typeface="Calibri"/>
              </a:rPr>
              <a:t> — Real-time insurance eligibility checks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Rate Limiting</a:t>
            </a:r>
            <a:r>
              <a:rPr sz="1100">
                <a:solidFill>
                  <a:srgbClr val="B0B8D1"/>
                </a:solidFill>
                <a:latin typeface="Calibri"/>
              </a:rPr>
              <a:t> — Sliding window, 100 req/min default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Error Handling</a:t>
            </a:r>
            <a:r>
              <a:rPr sz="1100">
                <a:solidFill>
                  <a:srgbClr val="B0B8D1"/>
                </a:solidFill>
                <a:latin typeface="Calibri"/>
              </a:rPr>
              <a:t> — Auth errors, rate limits, retry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114800" cy="20116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4114800" cy="50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24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DE5"/>
                </a:solidFill>
                <a:latin typeface="Calibri"/>
              </a:defRPr>
            </a:pPr>
            <a:r>
              <a:t>Rejection Analytics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Summary</a:t>
            </a:r>
            <a:r>
              <a:rPr sz="1100">
                <a:solidFill>
                  <a:srgbClr val="B0B8D1"/>
                </a:solidFill>
                <a:latin typeface="Calibri"/>
              </a:rPr>
              <a:t> — Total claims, rejections, rate by category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Trends</a:t>
            </a:r>
            <a:r>
              <a:rPr sz="1100">
                <a:solidFill>
                  <a:srgbClr val="B0B8D1"/>
                </a:solidFill>
                <a:latin typeface="Calibri"/>
              </a:rPr>
              <a:t> — Weekly rejection counts over 90 days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Effectiveness</a:t>
            </a:r>
            <a:r>
              <a:rPr sz="1100">
                <a:solidFill>
                  <a:srgbClr val="B0B8D1"/>
                </a:solidFill>
                <a:latin typeface="Calibri"/>
              </a:rPr>
              <a:t> — Which validators catch most issues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Top Rejections</a:t>
            </a:r>
            <a:r>
              <a:rPr sz="1100">
                <a:solidFill>
                  <a:srgbClr val="B0B8D1"/>
                </a:solidFill>
                <a:latin typeface="Calibri"/>
              </a:rPr>
              <a:t> — Ranked by frequency, actionable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Pattern Learning</a:t>
            </a:r>
            <a:r>
              <a:rPr sz="1100">
                <a:solidFill>
                  <a:srgbClr val="B0B8D1"/>
                </a:solidFill>
                <a:latin typeface="Calibri"/>
              </a:rPr>
              <a:t> — AI + manual pattern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91840"/>
            <a:ext cx="8595360" cy="128016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859536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1884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Claim Status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0332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DRAFT  →  VALIDATING  →  VALIDATED  →  SUBMITTING  →  SUBMITTED  →  ACKNOWLEDGED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                                                                      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B0B8D1"/>
                </a:solidFill>
                <a:latin typeface="Calibri"/>
              </a:rPr>
              <a:t>                                                PAID  |  REJECTED  →  APPEALING  |  DENIED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Models &amp;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05156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2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Claim + ClaimLine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CMS-1500 structure with encrypted PHI</a:t>
            </a:r>
            <a:br/>
            <a:r>
              <a:t>Nested service lines, diagnosis codes</a:t>
            </a:r>
            <a:br/>
            <a:r>
              <a:t>UUID PK, timestamped, indexed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5156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2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ValidationResult</a:t>
            </a:r>
            <a:br/>
            <a:r>
              <a:t>+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Validation run results with findings</a:t>
            </a:r>
            <a:br/>
            <a:r>
              <a:t>Severity (error/warning/info)</a:t>
            </a:r>
            <a:br/>
            <a:r>
              <a:t>Pipeline version tracking (SHA256)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2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SubmissionBatch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Batch submission tracking</a:t>
            </a:r>
            <a:br/>
            <a:r>
              <a:t>ClaimMD batch ID, response data</a:t>
            </a:r>
            <a:br/>
            <a:r>
              <a:t>Status: pending → submitted →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274320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819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DE5"/>
                </a:solidFill>
                <a:latin typeface="Calibri"/>
              </a:defRPr>
            </a:pPr>
            <a:r>
              <a:t>RejectionHistory</a:t>
            </a:r>
            <a:br/>
            <a:r>
              <a:t>+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46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Rejection tracking with categorization</a:t>
            </a:r>
            <a:br/>
            <a:r>
              <a:t>Preventable flag, matched patterns</a:t>
            </a:r>
            <a:br/>
            <a:r>
              <a:t>AI + manual pattern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74320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819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EligibilityCheck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46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Real-time eligibility results</a:t>
            </a:r>
            <a:br/>
            <a:r>
              <a:t>Encrypted subscriber data</a:t>
            </a:r>
            <a:br/>
            <a:r>
              <a:t>Payer + provider + service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2834640" cy="155448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E8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19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5B"/>
                </a:solidFill>
                <a:latin typeface="Calibri"/>
              </a:defRPr>
            </a:pPr>
            <a:r>
              <a:t>AuditLog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IMMUTABLE audit trail (HIPAA)</a:t>
            </a:r>
            <a:br/>
            <a:r>
              <a:t>User, IP, action, resource</a:t>
            </a:r>
            <a:br/>
            <a:r>
              <a:t>Overridden save() blocks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Server &amp; Async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97680" cy="27432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9768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MCP Server (Claude Code Integration)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40233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validate_claim</a:t>
            </a:r>
            <a:r>
              <a:rPr sz="1100">
                <a:solidFill>
                  <a:srgbClr val="B0B8D1"/>
                </a:solidFill>
                <a:latin typeface="Calibri"/>
              </a:rPr>
              <a:t> — Run full pipeline on claim JSON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lookup_icd10</a:t>
            </a:r>
            <a:r>
              <a:rPr sz="1100">
                <a:solidFill>
                  <a:srgbClr val="B0B8D1"/>
                </a:solidFill>
                <a:latin typeface="Calibri"/>
              </a:rPr>
              <a:t> — Validate ICD-10 code format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lookup_npi</a:t>
            </a:r>
            <a:r>
              <a:rPr sz="1100">
                <a:solidFill>
                  <a:srgbClr val="B0B8D1"/>
                </a:solidFill>
                <a:latin typeface="Calibri"/>
              </a:rPr>
              <a:t> — Validate NPI with Luhn check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analyze_rejection</a:t>
            </a:r>
            <a:r>
              <a:rPr sz="1100">
                <a:solidFill>
                  <a:srgbClr val="B0B8D1"/>
                </a:solidFill>
                <a:latin typeface="Calibri"/>
              </a:rPr>
              <a:t> — Explain rejection + corrective actions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get_rejection_stats</a:t>
            </a:r>
            <a:r>
              <a:rPr sz="1100">
                <a:solidFill>
                  <a:srgbClr val="B0B8D1"/>
                </a:solidFill>
                <a:latin typeface="Calibri"/>
              </a:rPr>
              <a:t> — Rejection rate statistics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list_validators</a:t>
            </a:r>
            <a:r>
              <a:rPr sz="1100">
                <a:solidFill>
                  <a:srgbClr val="B0B8D1"/>
                </a:solidFill>
                <a:latin typeface="Calibri"/>
              </a:rPr>
              <a:t> — List configured validators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check_eligibility</a:t>
            </a:r>
            <a:r>
              <a:rPr sz="1100">
                <a:solidFill>
                  <a:srgbClr val="B0B8D1"/>
                </a:solidFill>
                <a:latin typeface="Calibri"/>
              </a:rPr>
              <a:t> — Real-time eligibility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114800" cy="27432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411480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24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Celery Async Tasks (Redis Broker)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3840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validate_claim_task</a:t>
            </a:r>
            <a:r>
              <a:rPr sz="1100">
                <a:solidFill>
                  <a:srgbClr val="B0B8D1"/>
                </a:solidFill>
                <a:latin typeface="Calibri"/>
              </a:rPr>
              <a:t> — Async claim validation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submit_claims_task</a:t>
            </a:r>
            <a:r>
              <a:rPr sz="1100">
                <a:solidFill>
                  <a:srgbClr val="B0B8D1"/>
                </a:solidFill>
                <a:latin typeface="Calibri"/>
              </a:rPr>
              <a:t> — Batch ClaimMD submission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check_eligibility_task</a:t>
            </a:r>
            <a:r>
              <a:rPr sz="1100">
                <a:solidFill>
                  <a:srgbClr val="B0B8D1"/>
                </a:solidFill>
                <a:latin typeface="Calibri"/>
              </a:rPr>
              <a:t> — Async eligibility check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poll_all_batches</a:t>
            </a:r>
            <a:r>
              <a:rPr sz="1100">
                <a:solidFill>
                  <a:srgbClr val="B0B8D1"/>
                </a:solidFill>
                <a:latin typeface="Calibri"/>
              </a:rPr>
              <a:t> — Every 5 min (Celery beat)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analyze_patterns</a:t>
            </a:r>
            <a:r>
              <a:rPr sz="1100">
                <a:solidFill>
                  <a:srgbClr val="B0B8D1"/>
                </a:solidFill>
                <a:latin typeface="Calibri"/>
              </a:rPr>
              <a:t> — Daily at 2:00 AM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acks_late=True for reliability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reject_on_worker_lost=True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2AB"/>
                </a:solidFill>
                <a:latin typeface="Calibri"/>
              </a:defRPr>
            </a:pPr>
            <a:r>
              <a:t>MCP enables AI-assisted billing workflows directly in Claude Code 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Code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97680" cy="18288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9768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4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Test Coverage (50+ test files)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Unit tests for all 8 rule-based validators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AI validator tests with mocked LLM responses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LLM provider tests (Anthropic, OpenAI, Compatible)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HIPAA de-identification compliance tests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Code table loading &amp; lookup tests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Pipeline integration tests (end-to-end)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API endpoint tests (Django REST Framework)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114800" cy="18288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4114800" cy="50800"/>
          </a:xfrm>
          <a:prstGeom prst="rect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24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DF"/>
                </a:solidFill>
                <a:latin typeface="Calibri"/>
              </a:defRPr>
            </a:pPr>
            <a:r>
              <a:t>Quality Assurance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pytest 9.0</a:t>
            </a:r>
            <a:r>
              <a:rPr sz="1100">
                <a:solidFill>
                  <a:srgbClr val="B0B8D1"/>
                </a:solidFill>
                <a:latin typeface="Calibri"/>
              </a:rPr>
              <a:t> — Test framework with fixtures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mypy (strict)</a:t>
            </a:r>
            <a:r>
              <a:rPr sz="1100">
                <a:solidFill>
                  <a:srgbClr val="B0B8D1"/>
                </a:solidFill>
                <a:latin typeface="Calibri"/>
              </a:rPr>
              <a:t> — Static type checking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ruff</a:t>
            </a:r>
            <a:r>
              <a:rPr sz="1100">
                <a:solidFill>
                  <a:srgbClr val="B0B8D1"/>
                </a:solidFill>
                <a:latin typeface="Calibri"/>
              </a:rPr>
              <a:t> — Fast Python linting &amp; formatting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factory-boy</a:t>
            </a:r>
            <a:r>
              <a:rPr sz="1100">
                <a:solidFill>
                  <a:srgbClr val="B0B8D1"/>
                </a:solidFill>
                <a:latin typeface="Calibri"/>
              </a:rPr>
              <a:t> — Test data factories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pre-commit</a:t>
            </a:r>
            <a:r>
              <a:rPr sz="1100">
                <a:solidFill>
                  <a:srgbClr val="B0B8D1"/>
                </a:solidFill>
                <a:latin typeface="Calibri"/>
              </a:rPr>
              <a:t> — Automated quality hooks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pytest-cov</a:t>
            </a:r>
            <a:r>
              <a:rPr sz="1100">
                <a:solidFill>
                  <a:srgbClr val="B0B8D1"/>
                </a:solidFill>
                <a:latin typeface="Calibri"/>
              </a:rPr>
              <a:t> — Coverage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108960"/>
            <a:ext cx="8595360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859536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2359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Design Patterns &amp;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20440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Abstract Base Classes</a:t>
            </a:r>
            <a:r>
              <a:rPr sz="1000">
                <a:solidFill>
                  <a:srgbClr val="B0B8D1"/>
                </a:solidFill>
                <a:latin typeface="Calibri"/>
              </a:rPr>
              <a:t> — BaseValidator, BaseLLMClient for extension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Factory Pattern</a:t>
            </a:r>
            <a:r>
              <a:rPr sz="1000">
                <a:solidFill>
                  <a:srgbClr val="B0B8D1"/>
                </a:solidFill>
                <a:latin typeface="Calibri"/>
              </a:rPr>
              <a:t> — LLM client factory, Validator registry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Strategy Pattern</a:t>
            </a:r>
            <a:r>
              <a:rPr sz="1000">
                <a:solidFill>
                  <a:srgbClr val="B0B8D1"/>
                </a:solidFill>
                <a:latin typeface="Calibri"/>
              </a:rPr>
              <a:t> — Swappable validators via dotted path config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Builder Pattern</a:t>
            </a:r>
            <a:r>
              <a:rPr sz="1000">
                <a:solidFill>
                  <a:srgbClr val="B0B8D1"/>
                </a:solidFill>
                <a:latin typeface="Calibri"/>
              </a:rPr>
              <a:t> — Fluent ValidationPipeline.builder()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Dependency Injection</a:t>
            </a:r>
            <a:r>
              <a:rPr sz="1000">
                <a:solidFill>
                  <a:srgbClr val="B0B8D1"/>
                </a:solidFill>
                <a:latin typeface="Calibri"/>
              </a:rPr>
              <a:t> — LLM client injected into AI validators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Immutable Models</a:t>
            </a:r>
            <a:r>
              <a:rPr sz="1000">
                <a:solidFill>
                  <a:srgbClr val="B0B8D1"/>
                </a:solidFill>
                <a:latin typeface="Calibri"/>
              </a:rPr>
              <a:t> — Frozen Pydantic models for data integrity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Prototype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Create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POST /api/v1/claims/</a:t>
            </a:r>
            <a:br/>
            <a:r>
              <a:t>with CMS-1500 data</a:t>
            </a:r>
          </a:p>
        </p:txBody>
      </p:sp>
      <p:sp>
        <p:nvSpPr>
          <p:cNvPr id="8" name="Oval 7"/>
          <p:cNvSpPr/>
          <p:nvPr/>
        </p:nvSpPr>
        <p:spPr>
          <a:xfrm>
            <a:off x="2057400" y="10972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POST .../validate/</a:t>
            </a:r>
            <a:br/>
            <a:r>
              <a:t>8 rule + 3 AI checks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0" y="10972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Review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GET .../validations/</a:t>
            </a:r>
            <a:br/>
            <a:r>
              <a:t>errors &amp; warnings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1097280"/>
            <a:ext cx="457200" cy="457200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DE5"/>
                </a:solidFill>
                <a:latin typeface="Calibri"/>
              </a:defRPr>
            </a:pPr>
            <a:r>
              <a:t>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POST .../submit/</a:t>
            </a:r>
            <a:br/>
            <a:r>
              <a:t>to ClaimMD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097280"/>
            <a:ext cx="457200" cy="457200"/>
          </a:xfrm>
          <a:prstGeom prst="ellipse">
            <a:avLst/>
          </a:prstGeom>
          <a:solidFill>
            <a:srgbClr val="38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Track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Auto-poll every 5m</a:t>
            </a:r>
            <a:br/>
            <a:r>
              <a:t>ACK → PAID/REJ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10972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691640"/>
            <a:ext cx="1417320" cy="11887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057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D1"/>
                </a:solidFill>
                <a:latin typeface="Calibri"/>
              </a:defRPr>
            </a:pPr>
            <a:r>
              <a:t>GET /analytics/...</a:t>
            </a:r>
            <a:br/>
            <a:r>
              <a:t>trends &amp;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108960"/>
            <a:ext cx="8595360" cy="146304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859536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2359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Demo Scenarios (demo_e2e.py)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520440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Scenario 1: Clean Claim</a:t>
            </a:r>
            <a:r>
              <a:rPr sz="1000">
                <a:solidFill>
                  <a:srgbClr val="B0B8D1"/>
                </a:solidFill>
                <a:latin typeface="Calibri"/>
              </a:rPr>
              <a:t> — Valid CMS-1500 claim passes all rule-based validators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Scenario 2: Broken Claim</a:t>
            </a:r>
            <a:r>
              <a:rPr sz="1000">
                <a:solidFill>
                  <a:srgbClr val="B0B8D1"/>
                </a:solidFill>
                <a:latin typeface="Calibri"/>
              </a:rPr>
              <a:t> — Bad NPI, missing fields, negative charges, duplicates — multiple errors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Scenario 3: De-identification</a:t>
            </a:r>
            <a:r>
              <a:rPr sz="1000">
                <a:solidFill>
                  <a:srgbClr val="B0B8D1"/>
                </a:solidFill>
                <a:latin typeface="Calibri"/>
              </a:rPr>
              <a:t> — Shows PHI stripping: names/dates removed, age/codes retained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Scenario 4: AI Detection</a:t>
            </a:r>
            <a:r>
              <a:rPr sz="1000">
                <a:solidFill>
                  <a:srgbClr val="B0B8D1"/>
                </a:solidFill>
                <a:latin typeface="Calibri"/>
              </a:rPr>
              <a:t> — Male patient with female diagnosis + high-cost MRI → AI flags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Healthcare Code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" y="1097280"/>
            <a:ext cx="1737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ICD-10-CM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Diagnosis code lookup</a:t>
            </a:r>
            <a:br/>
            <a:r>
              <a:t>Format-aware (J069 ↔ J06.9)</a:t>
            </a:r>
            <a:br/>
            <a:r>
              <a:t>Compressed .json.gz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097280"/>
            <a:ext cx="1737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HCPCS / CPT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Procedure code lookup</a:t>
            </a:r>
            <a:br/>
            <a:r>
              <a:t>5-char alphanumeric codes</a:t>
            </a:r>
            <a:br/>
            <a:r>
              <a:t>Compressed .json.gz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097280"/>
            <a:ext cx="1737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Provider specialty codes</a:t>
            </a:r>
            <a:br/>
            <a:r>
              <a:t>NPI taxonomy validation</a:t>
            </a:r>
            <a:br/>
            <a:r>
              <a:t>Compressed .json.gz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097280"/>
            <a:ext cx="1737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DE5"/>
                </a:solidFill>
                <a:latin typeface="Calibri"/>
              </a:defRPr>
            </a:pPr>
            <a:r>
              <a:t>Place of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POS code descriptions</a:t>
            </a:r>
            <a:br/>
            <a:r>
              <a:t>Facility type validation</a:t>
            </a:r>
            <a:br/>
            <a:r>
              <a:t>Compressed .json.gz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097280"/>
            <a:ext cx="1737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143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Timely Filing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463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Payer-specific deadlines</a:t>
            </a:r>
            <a:br/>
            <a:r>
              <a:t>Days from service date</a:t>
            </a:r>
            <a:br/>
            <a:r>
              <a:t>JSON with _default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651760"/>
            <a:ext cx="8595360" cy="13716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51760"/>
            <a:ext cx="859536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7787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Thread-Safe Lazy Loading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063240"/>
            <a:ext cx="8321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Code tables loaded on first access, then cached as singletons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Double-check locking ensures thread safety in concurrent environments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gzip decompression + JSON parsing at load time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Format-aware normalization (e.g., ICD-10: J069 → J06.9 with fallback dot insertion)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CodeTableError exceptions on load/lookup failures with graceful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Scope &amp;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0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Institutional Claims (UB-04)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Extend validation pipeline for 837I institutional claims</a:t>
            </a:r>
            <a:br/>
            <a:r>
              <a:t>beyond current CMS-1500 / 837P professional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5156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150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ML-Based Rejection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17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Train models on historical rejection patterns to predict</a:t>
            </a:r>
            <a:br/>
            <a:r>
              <a:t>denial probability before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4884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123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React/Next.js frontend with live claim status,</a:t>
            </a:r>
            <a:br/>
            <a:r>
              <a:t>analytics charts, and validator performance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4884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2123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DE5"/>
                </a:solidFill>
                <a:latin typeface="Calibri"/>
              </a:defRPr>
            </a:pPr>
            <a:r>
              <a:t>Multi-Tenant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Support multiple healthcare organizations with</a:t>
            </a:r>
            <a:br/>
            <a:r>
              <a:t>isolated data, billing, and configuration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4612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387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096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DF"/>
                </a:solidFill>
                <a:latin typeface="Calibri"/>
              </a:defRPr>
            </a:pPr>
            <a:r>
              <a:t>EDI 835 Remittance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Parse and reconcile payment remittance advices</a:t>
            </a:r>
            <a:br/>
            <a:r>
              <a:t>with submitted claims for revenue cycle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46120"/>
            <a:ext cx="4297680" cy="96012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3096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Appeal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11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D1"/>
                </a:solidFill>
                <a:latin typeface="Calibri"/>
              </a:defRPr>
            </a:pPr>
            <a:r>
              <a:t>AI-generated appeal letters for denied claims</a:t>
            </a:r>
            <a:br/>
            <a:r>
              <a:t>with supporting documentation templates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Validators</a:t>
            </a:r>
            <a:br/>
            <a:r>
              <a:t>(8 Rule + 3 AI)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8" name="Oval 7"/>
          <p:cNvSpPr/>
          <p:nvPr/>
        </p:nvSpPr>
        <p:spPr>
          <a:xfrm>
            <a:off x="333756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MCP Server</a:t>
            </a:r>
            <a:br/>
            <a:r>
              <a:t>Tools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Celery Async</a:t>
            </a:r>
            <a:br/>
            <a:r>
              <a:t>Tasks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Test Files</a:t>
            </a:r>
            <a:br/>
            <a:r>
              <a:t>(Comprehensive)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1097280"/>
            <a:ext cx="914400" cy="914400"/>
          </a:xfrm>
          <a:prstGeom prst="ellipse">
            <a:avLst/>
          </a:prstGeom>
          <a:solidFill>
            <a:srgbClr val="242B4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C9A7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1031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1"/>
                </a:solidFill>
                <a:latin typeface="Calibri"/>
              </a:defRPr>
            </a:pPr>
            <a:r>
              <a:t>Data Models</a:t>
            </a:r>
            <a:br/>
            <a:r>
              <a:t>(Django ORM)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743200"/>
            <a:ext cx="8595360" cy="1828800"/>
          </a:xfrm>
          <a:prstGeom prst="roundRect">
            <a:avLst/>
          </a:prstGeom>
          <a:solidFill>
            <a:srgbClr val="242B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859536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7020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Key Accomplishments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54680"/>
            <a:ext cx="8321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Built a production-ready dual-phase validation pipeline (rule-based + AI-powered)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Implemented full HIPAA compliance: PHI encryption, de-identification, immutable audit logs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Integrated with ClaimMD clearinghouse for real-time claim submission &amp; status tracking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Created a multi-provider LLM abstraction (Anthropic, OpenAI, Ollama, vLLM)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Developed MCP server enabling AI-assisted healthcare billing workflows in Claude Code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B0B8D1"/>
                </a:solidFill>
                <a:latin typeface="Calibri"/>
              </a:rPr>
              <a:t>  Comprehensive test suite with 50+ test files and strict type checking (mypy)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468880"/>
            <a:ext cx="54864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9A7"/>
                </a:solidFill>
                <a:latin typeface="Calibri"/>
              </a:defRPr>
            </a:pPr>
            <a:r>
              <a:t>Healthcare Claim Validation &amp; Analytics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2A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2AB"/>
                </a:solidFill>
                <a:latin typeface="Calibri"/>
              </a:defRPr>
            </a:pPr>
            <a:r>
              <a:t>Python  |  Django  |  Pydantic  |  Celery  |  Claude AI  |  HIPAA  |  CMS-1500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